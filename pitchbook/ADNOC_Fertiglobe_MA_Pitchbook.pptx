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ADNOC / Fertiglobe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60350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9EAF7"/>
                </a:solidFill>
              </a:rPr>
              <a:t>Transaction Valuation &amp; Deal Economics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920240" cy="676656"/>
          </a:xfrm>
          <a:prstGeom prst="rect">
            <a:avLst/>
          </a:prstGeom>
          <a:solidFill>
            <a:srgbClr val="1F4E78"/>
          </a:solidFill>
          <a:ln w="6350">
            <a:solidFill>
              <a:srgbClr val="1F4E7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$3.62bn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Headline consideration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97480" y="1325880"/>
            <a:ext cx="1828800" cy="676656"/>
          </a:xfrm>
          <a:prstGeom prst="rect">
            <a:avLst/>
          </a:prstGeom>
          <a:solidFill>
            <a:srgbClr val="1F4E78"/>
          </a:solidFill>
          <a:ln w="6350">
            <a:solidFill>
              <a:srgbClr val="1F4E7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AED3.20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Price / share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09160" y="1325880"/>
            <a:ext cx="2377440" cy="676656"/>
          </a:xfrm>
          <a:prstGeom prst="rect">
            <a:avLst/>
          </a:prstGeom>
          <a:solidFill>
            <a:srgbClr val="1F4E78"/>
          </a:solidFill>
          <a:ln w="6350">
            <a:solidFill>
              <a:srgbClr val="1F4E7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36.2% → 86.2%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Ownership change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69480" y="1325880"/>
            <a:ext cx="1920240" cy="676656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~$455m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Strategic value gap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72600" y="1325880"/>
            <a:ext cx="1920240" cy="676656"/>
          </a:xfrm>
          <a:prstGeom prst="rect">
            <a:avLst/>
          </a:prstGeom>
          <a:solidFill>
            <a:srgbClr val="548235"/>
          </a:solidFill>
          <a:ln w="6350">
            <a:solidFill>
              <a:srgbClr val="54823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~Breakeven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Base Deal NPV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3657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Executive Summary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834640"/>
            <a:ext cx="521208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• ADNOC acquired OCI's 50% + 1 Fertiglobe stake, increasing ownership from 36.2% to 86.2%.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• Base ex-ante standalone value was ~AED2.80/share vs. AED3.20 paid.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• Strategic-value gap was ~$455m on the acquired stake.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• Existing 36.2% stake materially improves synergy allocation and control economics.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• Moderate recurring strategic benefits can nearly bridge the gap; outcome remains commodity-sensitive.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29400" y="2788920"/>
            <a:ext cx="4114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Core conclusion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9400" y="3246120"/>
            <a:ext cx="44348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The deal did not require heroic synergies to approach breakeven, but value creation depends on sustained mid-cycle nitrogen spreads, utilization and feedstock economics.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4526280"/>
            <a:ext cx="4389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Independent public-information case study; not live advisory work.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653796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ADNOC / Fertiglobe — Independent M&amp;A Case Study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9372600" y="65379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USD unless otherwise stated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841480" y="653796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Transaction Overview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20624" y="43891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ADNOC acquired control of Fertiglobe through OCI's 50% + 1 share block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737360" cy="292608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Item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40280" y="822960"/>
            <a:ext cx="3383280" cy="292608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Detail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Buyer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40280" y="1115568"/>
            <a:ext cx="3383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ADNOC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Seller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40280" y="1527048"/>
            <a:ext cx="3383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OCI Global / OCI Fertilizers B.V.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1938528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Target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240280" y="1938528"/>
            <a:ext cx="3383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Fertiglobe plc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2350008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Announcement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240280" y="2350008"/>
            <a:ext cx="3383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15 Dec 2023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2761488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Closing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240280" y="2761488"/>
            <a:ext cx="3383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15 Oct 2024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3172968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Stake acquired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240280" y="3172968"/>
            <a:ext cx="3383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50% + 1 share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Price / share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40280" y="3584448"/>
            <a:ext cx="3383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AED3.20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2920" y="3995928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Headline consideration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240280" y="3995928"/>
            <a:ext cx="3383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AED13.28bn / $3.62bn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4407408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Premium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240280" y="4407408"/>
            <a:ext cx="3383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8% to undisturbed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09360" y="960120"/>
            <a:ext cx="1325880" cy="274320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Before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635240" y="960120"/>
            <a:ext cx="822960" cy="274320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%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309360" y="1234440"/>
            <a:ext cx="1325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OCI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635240" y="1234440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50.0%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309360" y="1618488"/>
            <a:ext cx="1325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ADNOC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635240" y="1618488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36.2%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309360" y="2002536"/>
            <a:ext cx="1325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Free float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635240" y="2002536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13.8%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052560" y="960120"/>
            <a:ext cx="1325880" cy="274320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After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378440" y="960120"/>
            <a:ext cx="822960" cy="274320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%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9052560" y="1234440"/>
            <a:ext cx="1325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ADNOC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0378440" y="1234440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86.2%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052560" y="1618488"/>
            <a:ext cx="1325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Free float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0378440" y="1618488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13.8%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40080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Control-block transaction, not a full-company tender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" y="5989320"/>
            <a:ext cx="111099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365D"/>
                </a:solidFill>
              </a:rPr>
              <a:t>The price paid should be evaluated against the acquired OCI stake and strategic control economics, not against 100% EV.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653796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ADNOC / Fertiglobe — Independent M&amp;A Case Study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9372600" y="65379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USD unless otherwise stated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11841480" y="653796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Fertiglobe Business Overview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20624" y="43891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Low-cost MENA nitrogen platform with ~6.6mtpa sellable capacity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2148840" cy="676656"/>
          </a:xfrm>
          <a:prstGeom prst="rect">
            <a:avLst/>
          </a:prstGeom>
          <a:solidFill>
            <a:srgbClr val="1F4E78"/>
          </a:solidFill>
          <a:ln w="6350">
            <a:solidFill>
              <a:srgbClr val="1F4E7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5.055mtpa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Urea capacity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868680"/>
            <a:ext cx="2240280" cy="676656"/>
          </a:xfrm>
          <a:prstGeom prst="rect">
            <a:avLst/>
          </a:prstGeom>
          <a:solidFill>
            <a:srgbClr val="1F4E78"/>
          </a:solidFill>
          <a:ln w="6350">
            <a:solidFill>
              <a:srgbClr val="1F4E7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1.551mtpa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Merchant NH3 capacity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94960" y="868680"/>
            <a:ext cx="2240280" cy="676656"/>
          </a:xfrm>
          <a:prstGeom prst="rect">
            <a:avLst/>
          </a:prstGeom>
          <a:solidFill>
            <a:srgbClr val="1F4E78"/>
          </a:solidFill>
          <a:ln w="6350">
            <a:solidFill>
              <a:srgbClr val="1F4E7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6.606mtpa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Total sellable capacity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0" y="868680"/>
            <a:ext cx="2971800" cy="676656"/>
          </a:xfrm>
          <a:prstGeom prst="rect">
            <a:avLst/>
          </a:prstGeom>
          <a:solidFill>
            <a:srgbClr val="1F4E78"/>
          </a:solidFill>
          <a:ln w="6350">
            <a:solidFill>
              <a:srgbClr val="1F4E7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UAE / Egypt / Algeria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Core countries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1188720" cy="292608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Asset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83080" y="1920240"/>
            <a:ext cx="1188720" cy="292608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Country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971800" y="1920240"/>
            <a:ext cx="1965960" cy="292608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Main product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2212848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EFC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783080" y="2212848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Egypt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71800" y="2212848"/>
            <a:ext cx="1965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Urea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2596896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EBIC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783080" y="2596896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Egypt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971800" y="2596896"/>
            <a:ext cx="1965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Merchant ammonia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4360" y="2980944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Sorfert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783080" y="2980944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Algeria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71800" y="2980944"/>
            <a:ext cx="1965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Urea + ammonia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3364992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Fertil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783080" y="3364992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UAE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971800" y="3364992"/>
            <a:ext cx="1965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Urea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94960" y="1920240"/>
            <a:ext cx="2468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Primary earnings drivers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2331720"/>
            <a:ext cx="274320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</a:rPr>
              <a:t>• Urea and ammonia prices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</a:rPr>
              <a:t>• Sustainable utilization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</a:rPr>
              <a:t>• Plant-level gas economics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</a:rPr>
              <a:t>• Freight and logistics netbacks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</a:rPr>
              <a:t>• Trading/distribution contribution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8503920" y="1920240"/>
            <a:ext cx="2468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Competitive advantages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03920" y="2331720"/>
            <a:ext cx="274320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</a:rPr>
              <a:t>• First-quartile cost position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</a:rPr>
              <a:t>• Long-term feedstock access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</a:rPr>
              <a:t>• Export infrastructure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</a:rPr>
              <a:t>• ADNOC backing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</a:rPr>
              <a:t>• Ammonia optionality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502920" y="5989320"/>
            <a:ext cx="111099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365D"/>
                </a:solidFill>
              </a:rPr>
              <a:t>Fertiglobe is fundamentally a commodity-spread business with meaningful operating leverage.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653796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ADNOC / Fertiglobe — Independent M&amp;A Case Study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9372600" y="65379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USD unless otherwise stated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11841480" y="653796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Historical Financial Performance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20624" y="43891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Earnings were driven primarily by the nitrogen cycle, not capacity growth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2743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65D"/>
                </a:solidFill>
              </a:rPr>
              <a:t>Revenue &amp; Adj. EBITDA ($bn)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4572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21A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914400" y="2604668"/>
            <a:ext cx="256032" cy="1967332"/>
          </a:xfrm>
          <a:prstGeom prst="rect">
            <a:avLst/>
          </a:prstGeom>
          <a:solidFill>
            <a:srgbClr val="D9EAF7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7008" y="3650742"/>
            <a:ext cx="256032" cy="921258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4572000"/>
            <a:ext cx="4572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22A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1691640" y="1582369"/>
            <a:ext cx="256032" cy="2989631"/>
          </a:xfrm>
          <a:prstGeom prst="rect">
            <a:avLst/>
          </a:prstGeom>
          <a:solidFill>
            <a:srgbClr val="D9EAF7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84248" y="3103931"/>
            <a:ext cx="256032" cy="1468069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4572000"/>
            <a:ext cx="4572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23A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468880" y="3133649"/>
            <a:ext cx="256032" cy="1438351"/>
          </a:xfrm>
          <a:prstGeom prst="rect">
            <a:avLst/>
          </a:prstGeom>
          <a:solidFill>
            <a:srgbClr val="D9EAF7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61488" y="3977640"/>
            <a:ext cx="256032" cy="59436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4572000"/>
            <a:ext cx="4572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24A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3246120" y="3377336"/>
            <a:ext cx="256032" cy="1194664"/>
          </a:xfrm>
          <a:prstGeom prst="rect">
            <a:avLst/>
          </a:prstGeom>
          <a:solidFill>
            <a:srgbClr val="D9EAF7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38728" y="4185666"/>
            <a:ext cx="256032" cy="386334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4572000"/>
            <a:ext cx="4572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25A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023360" y="2889961"/>
            <a:ext cx="256032" cy="1682039"/>
          </a:xfrm>
          <a:prstGeom prst="rect">
            <a:avLst/>
          </a:prstGeom>
          <a:solidFill>
            <a:srgbClr val="D9EAF7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15968" y="3965753"/>
            <a:ext cx="256032" cy="606247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4572000"/>
            <a:ext cx="4572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26E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800600" y="2343150"/>
            <a:ext cx="256032" cy="2228850"/>
          </a:xfrm>
          <a:prstGeom prst="rect">
            <a:avLst/>
          </a:prstGeom>
          <a:solidFill>
            <a:srgbClr val="D9EAF7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93208" y="3781501"/>
            <a:ext cx="256032" cy="790499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1097280"/>
            <a:ext cx="914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F4E78"/>
                </a:solidFill>
              </a:rPr>
              <a:t>Revenue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212080" y="1325880"/>
            <a:ext cx="914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7365D"/>
                </a:solidFill>
              </a:rPr>
              <a:t>EBITDA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400800" y="868680"/>
            <a:ext cx="1097280" cy="274320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Metric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498080" y="868680"/>
            <a:ext cx="594360" cy="274320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2021A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092440" y="868680"/>
            <a:ext cx="594360" cy="274320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2022A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686800" y="868680"/>
            <a:ext cx="594360" cy="274320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2023A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9281160" y="868680"/>
            <a:ext cx="594360" cy="274320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2024A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9875520" y="868680"/>
            <a:ext cx="594360" cy="274320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2025A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0469880" y="868680"/>
            <a:ext cx="594360" cy="274320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2026E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400800" y="1143000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</a:rPr>
              <a:t>EBITDA margin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498080" y="1143000"/>
            <a:ext cx="594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</a:rPr>
              <a:t>46.8%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092440" y="1143000"/>
            <a:ext cx="594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</a:rPr>
              <a:t>49.2%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686800" y="1143000"/>
            <a:ext cx="594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</a:rPr>
              <a:t>41.5%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9281160" y="1143000"/>
            <a:ext cx="594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</a:rPr>
              <a:t>32.2%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9875520" y="1143000"/>
            <a:ext cx="594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</a:rPr>
              <a:t>36.1%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0469880" y="1143000"/>
            <a:ext cx="594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</a:rPr>
              <a:t>35.6%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400800" y="1527048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</a:rPr>
              <a:t>Net debt ($bn)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498080" y="1527048"/>
            <a:ext cx="594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</a:rPr>
              <a:t>0.49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092440" y="1527048"/>
            <a:ext cx="594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</a:rPr>
              <a:t>(0.29)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686800" y="1527048"/>
            <a:ext cx="594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</a:rPr>
              <a:t>0.91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9281160" y="1527048"/>
            <a:ext cx="594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</a:rPr>
              <a:t>1.05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9875520" y="1527048"/>
            <a:ext cx="594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</a:rPr>
              <a:t>1.01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0469880" y="1527048"/>
            <a:ext cx="594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</a:rPr>
              <a:t>0.61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629400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Cycle evidence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629400" y="3127248"/>
            <a:ext cx="43891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2022 and 2024 had similar own-product volumes, but EBITDA moved from ~$2.47bn to ~$0.65bn as nitrogen spreads compressed and disruptions hit operations.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2920" y="5989320"/>
            <a:ext cx="111099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365D"/>
                </a:solidFill>
              </a:rPr>
              <a:t>Historical EBITDA cannot be normalized by averaging; the model must normalize commodity prices and operating availability.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653796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ADNOC / Fertiglobe — Independent M&amp;A Case Study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9372600" y="65379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USD unless otherwise stated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11841480" y="653796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Operating Drivers / Commodity Exposure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20624" y="43891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The business in 30 seconds: price, utilization and feedstock economics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12344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Capacity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21992" y="1005840"/>
            <a:ext cx="12344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× Utilization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49624" y="1005840"/>
            <a:ext cx="12344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= Production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77256" y="1005840"/>
            <a:ext cx="12344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× Price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04888" y="1005840"/>
            <a:ext cx="12344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= Revenue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32520" y="1005840"/>
            <a:ext cx="12344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− Costs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360152" y="1005840"/>
            <a:ext cx="12344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= EBITDA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1234440" cy="292608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Driver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65960" y="2057400"/>
            <a:ext cx="1005840" cy="292608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Direction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71800" y="2057400"/>
            <a:ext cx="2788920" cy="292608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Financial impact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2350008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Urea price ↑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65960" y="2350008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Positive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971800" y="2350008"/>
            <a:ext cx="2788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Revenue and EBITDA expand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" y="2734056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Ammonia price ↑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965960" y="2734056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Positive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71800" y="2734056"/>
            <a:ext cx="2788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Merchant NH3 margin expands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0" y="3118104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Utilization ↑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965960" y="3118104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Positive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971800" y="3118104"/>
            <a:ext cx="2788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Fixed cost / tonne falls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" y="3502152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Gas cost ↑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965960" y="3502152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Negative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971800" y="3502152"/>
            <a:ext cx="2788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Spread and EBITDA compress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" y="3886200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Freight ↑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965960" y="3886200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Negative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971800" y="3886200"/>
            <a:ext cx="2788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Netback lower / shipments delayed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9224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Highest-value sensitivities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37960" y="2651760"/>
            <a:ext cx="420624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• Normalized urea price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• Ammonia price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• Plant utilization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• Sorfert / Egypt gas economics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• Freight and geopolitics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5989320"/>
            <a:ext cx="111099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365D"/>
                </a:solidFill>
              </a:rPr>
              <a:t>Commodity-price assumptions move value more than a narrow WACC debate.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653796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ADNOC / Fertiglobe — Independent M&amp;A Case Study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9372600" y="65379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USD unless otherwise stated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11841480" y="653796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2026E–2030E Forecast Summary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20624" y="43891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Base case normalizes commodity prices while operating performance improves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2057400" cy="274320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</a:rPr>
              <a:t>$mm except volume / price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2560320" y="822960"/>
            <a:ext cx="868680" cy="274320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</a:rPr>
              <a:t>2026E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3429000" y="822960"/>
            <a:ext cx="868680" cy="274320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</a:rPr>
              <a:t>2027E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4297680" y="822960"/>
            <a:ext cx="868680" cy="274320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</a:rPr>
              <a:t>2028E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5166360" y="822960"/>
            <a:ext cx="868680" cy="274320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</a:rPr>
              <a:t>2029E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035040" y="822960"/>
            <a:ext cx="868680" cy="274320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</a:rPr>
              <a:t>2030E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502920" y="1097280"/>
            <a:ext cx="2057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Revenue</a:t>
            </a:r>
            <a:endParaRPr lang="en-US" sz="730" dirty="0"/>
          </a:p>
        </p:txBody>
      </p:sp>
      <p:sp>
        <p:nvSpPr>
          <p:cNvPr id="11" name="Text 9"/>
          <p:cNvSpPr/>
          <p:nvPr/>
        </p:nvSpPr>
        <p:spPr>
          <a:xfrm>
            <a:off x="2560320" y="1097280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3,745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3429000" y="1097280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3,239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4297680" y="1097280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3,145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5166360" y="1097280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3,163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6035040" y="1097280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3,226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502920" y="1426464"/>
            <a:ext cx="2057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EBITDA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2560320" y="1426464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1,332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3429000" y="1426464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1,163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4297680" y="1426464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1,143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5166360" y="1426464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1,145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6035040" y="1426464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1,170</a:t>
            </a:r>
            <a:endParaRPr lang="en-US" sz="730" dirty="0"/>
          </a:p>
        </p:txBody>
      </p:sp>
      <p:sp>
        <p:nvSpPr>
          <p:cNvPr id="22" name="Text 20"/>
          <p:cNvSpPr/>
          <p:nvPr/>
        </p:nvSpPr>
        <p:spPr>
          <a:xfrm>
            <a:off x="502920" y="1755648"/>
            <a:ext cx="2057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EBITDA margin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2560320" y="1755648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35.6%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3429000" y="1755648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35.9%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4297680" y="1755648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36.3%</a:t>
            </a:r>
            <a:endParaRPr lang="en-US" sz="730" dirty="0"/>
          </a:p>
        </p:txBody>
      </p:sp>
      <p:sp>
        <p:nvSpPr>
          <p:cNvPr id="26" name="Text 24"/>
          <p:cNvSpPr/>
          <p:nvPr/>
        </p:nvSpPr>
        <p:spPr>
          <a:xfrm>
            <a:off x="5166360" y="1755648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36.2%</a:t>
            </a:r>
            <a:endParaRPr lang="en-US" sz="730" dirty="0"/>
          </a:p>
        </p:txBody>
      </p:sp>
      <p:sp>
        <p:nvSpPr>
          <p:cNvPr id="27" name="Text 25"/>
          <p:cNvSpPr/>
          <p:nvPr/>
        </p:nvSpPr>
        <p:spPr>
          <a:xfrm>
            <a:off x="6035040" y="1755648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36.3%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502920" y="2084832"/>
            <a:ext cx="2057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FCFF</a:t>
            </a: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2560320" y="2084832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903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3429000" y="2084832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696</a:t>
            </a:r>
            <a:endParaRPr lang="en-US" sz="730" dirty="0"/>
          </a:p>
        </p:txBody>
      </p:sp>
      <p:sp>
        <p:nvSpPr>
          <p:cNvPr id="31" name="Text 29"/>
          <p:cNvSpPr/>
          <p:nvPr/>
        </p:nvSpPr>
        <p:spPr>
          <a:xfrm>
            <a:off x="4297680" y="2084832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611</a:t>
            </a:r>
            <a:endParaRPr lang="en-US" sz="730" dirty="0"/>
          </a:p>
        </p:txBody>
      </p:sp>
      <p:sp>
        <p:nvSpPr>
          <p:cNvPr id="32" name="Text 30"/>
          <p:cNvSpPr/>
          <p:nvPr/>
        </p:nvSpPr>
        <p:spPr>
          <a:xfrm>
            <a:off x="5166360" y="2084832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814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6035040" y="2084832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806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502920" y="2414016"/>
            <a:ext cx="2057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Net debt</a:t>
            </a:r>
            <a:endParaRPr lang="en-US" sz="730" dirty="0"/>
          </a:p>
        </p:txBody>
      </p:sp>
      <p:sp>
        <p:nvSpPr>
          <p:cNvPr id="35" name="Text 33"/>
          <p:cNvSpPr/>
          <p:nvPr/>
        </p:nvSpPr>
        <p:spPr>
          <a:xfrm>
            <a:off x="2560320" y="2414016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609</a:t>
            </a:r>
            <a:endParaRPr lang="en-US" sz="730" dirty="0"/>
          </a:p>
        </p:txBody>
      </p:sp>
      <p:sp>
        <p:nvSpPr>
          <p:cNvPr id="36" name="Text 34"/>
          <p:cNvSpPr/>
          <p:nvPr/>
        </p:nvSpPr>
        <p:spPr>
          <a:xfrm>
            <a:off x="3429000" y="2414016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491</a:t>
            </a:r>
            <a:endParaRPr lang="en-US" sz="730" dirty="0"/>
          </a:p>
        </p:txBody>
      </p:sp>
      <p:sp>
        <p:nvSpPr>
          <p:cNvPr id="37" name="Text 35"/>
          <p:cNvSpPr/>
          <p:nvPr/>
        </p:nvSpPr>
        <p:spPr>
          <a:xfrm>
            <a:off x="4297680" y="2414016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464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5166360" y="2414016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279</a:t>
            </a:r>
            <a:endParaRPr lang="en-US" sz="730" dirty="0"/>
          </a:p>
        </p:txBody>
      </p:sp>
      <p:sp>
        <p:nvSpPr>
          <p:cNvPr id="39" name="Text 37"/>
          <p:cNvSpPr/>
          <p:nvPr/>
        </p:nvSpPr>
        <p:spPr>
          <a:xfrm>
            <a:off x="6035040" y="2414016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128</a:t>
            </a:r>
            <a:endParaRPr lang="en-US" sz="730" dirty="0"/>
          </a:p>
        </p:txBody>
      </p:sp>
      <p:sp>
        <p:nvSpPr>
          <p:cNvPr id="40" name="Text 38"/>
          <p:cNvSpPr/>
          <p:nvPr/>
        </p:nvSpPr>
        <p:spPr>
          <a:xfrm>
            <a:off x="502920" y="2743200"/>
            <a:ext cx="2057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Urea mt</a:t>
            </a:r>
            <a:endParaRPr lang="en-US" sz="730" dirty="0"/>
          </a:p>
        </p:txBody>
      </p:sp>
      <p:sp>
        <p:nvSpPr>
          <p:cNvPr id="41" name="Text 39"/>
          <p:cNvSpPr/>
          <p:nvPr/>
        </p:nvSpPr>
        <p:spPr>
          <a:xfrm>
            <a:off x="2560320" y="2743200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4.35</a:t>
            </a:r>
            <a:endParaRPr lang="en-US" sz="730" dirty="0"/>
          </a:p>
        </p:txBody>
      </p:sp>
      <p:sp>
        <p:nvSpPr>
          <p:cNvPr id="42" name="Text 40"/>
          <p:cNvSpPr/>
          <p:nvPr/>
        </p:nvSpPr>
        <p:spPr>
          <a:xfrm>
            <a:off x="3429000" y="2743200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4.55</a:t>
            </a:r>
            <a:endParaRPr lang="en-US" sz="730" dirty="0"/>
          </a:p>
        </p:txBody>
      </p:sp>
      <p:sp>
        <p:nvSpPr>
          <p:cNvPr id="43" name="Text 41"/>
          <p:cNvSpPr/>
          <p:nvPr/>
        </p:nvSpPr>
        <p:spPr>
          <a:xfrm>
            <a:off x="4297680" y="2743200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4.70</a:t>
            </a:r>
            <a:endParaRPr lang="en-US" sz="730" dirty="0"/>
          </a:p>
        </p:txBody>
      </p:sp>
      <p:sp>
        <p:nvSpPr>
          <p:cNvPr id="44" name="Text 42"/>
          <p:cNvSpPr/>
          <p:nvPr/>
        </p:nvSpPr>
        <p:spPr>
          <a:xfrm>
            <a:off x="5166360" y="2743200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4.75</a:t>
            </a:r>
            <a:endParaRPr lang="en-US" sz="730" dirty="0"/>
          </a:p>
        </p:txBody>
      </p:sp>
      <p:sp>
        <p:nvSpPr>
          <p:cNvPr id="45" name="Text 43"/>
          <p:cNvSpPr/>
          <p:nvPr/>
        </p:nvSpPr>
        <p:spPr>
          <a:xfrm>
            <a:off x="6035040" y="2743200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4.80</a:t>
            </a:r>
            <a:endParaRPr lang="en-US" sz="730" dirty="0"/>
          </a:p>
        </p:txBody>
      </p:sp>
      <p:sp>
        <p:nvSpPr>
          <p:cNvPr id="46" name="Text 44"/>
          <p:cNvSpPr/>
          <p:nvPr/>
        </p:nvSpPr>
        <p:spPr>
          <a:xfrm>
            <a:off x="502920" y="3072384"/>
            <a:ext cx="2057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NH3 mt</a:t>
            </a:r>
            <a:endParaRPr lang="en-US" sz="730" dirty="0"/>
          </a:p>
        </p:txBody>
      </p:sp>
      <p:sp>
        <p:nvSpPr>
          <p:cNvPr id="47" name="Text 45"/>
          <p:cNvSpPr/>
          <p:nvPr/>
        </p:nvSpPr>
        <p:spPr>
          <a:xfrm>
            <a:off x="2560320" y="3072384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1.20</a:t>
            </a:r>
            <a:endParaRPr lang="en-US" sz="730" dirty="0"/>
          </a:p>
        </p:txBody>
      </p:sp>
      <p:sp>
        <p:nvSpPr>
          <p:cNvPr id="48" name="Text 46"/>
          <p:cNvSpPr/>
          <p:nvPr/>
        </p:nvSpPr>
        <p:spPr>
          <a:xfrm>
            <a:off x="3429000" y="3072384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1.30</a:t>
            </a:r>
            <a:endParaRPr lang="en-US" sz="730" dirty="0"/>
          </a:p>
        </p:txBody>
      </p:sp>
      <p:sp>
        <p:nvSpPr>
          <p:cNvPr id="49" name="Text 47"/>
          <p:cNvSpPr/>
          <p:nvPr/>
        </p:nvSpPr>
        <p:spPr>
          <a:xfrm>
            <a:off x="4297680" y="3072384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1.35</a:t>
            </a:r>
            <a:endParaRPr lang="en-US" sz="730" dirty="0"/>
          </a:p>
        </p:txBody>
      </p:sp>
      <p:sp>
        <p:nvSpPr>
          <p:cNvPr id="50" name="Text 48"/>
          <p:cNvSpPr/>
          <p:nvPr/>
        </p:nvSpPr>
        <p:spPr>
          <a:xfrm>
            <a:off x="5166360" y="3072384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1.38</a:t>
            </a:r>
            <a:endParaRPr lang="en-US" sz="730" dirty="0"/>
          </a:p>
        </p:txBody>
      </p:sp>
      <p:sp>
        <p:nvSpPr>
          <p:cNvPr id="51" name="Text 49"/>
          <p:cNvSpPr/>
          <p:nvPr/>
        </p:nvSpPr>
        <p:spPr>
          <a:xfrm>
            <a:off x="6035040" y="3072384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1.40</a:t>
            </a:r>
            <a:endParaRPr lang="en-US" sz="730" dirty="0"/>
          </a:p>
        </p:txBody>
      </p:sp>
      <p:sp>
        <p:nvSpPr>
          <p:cNvPr id="52" name="Text 50"/>
          <p:cNvSpPr/>
          <p:nvPr/>
        </p:nvSpPr>
        <p:spPr>
          <a:xfrm>
            <a:off x="502920" y="3401568"/>
            <a:ext cx="2057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Egypt urea $/t</a:t>
            </a:r>
            <a:endParaRPr lang="en-US" sz="730" dirty="0"/>
          </a:p>
        </p:txBody>
      </p:sp>
      <p:sp>
        <p:nvSpPr>
          <p:cNvPr id="53" name="Text 51"/>
          <p:cNvSpPr/>
          <p:nvPr/>
        </p:nvSpPr>
        <p:spPr>
          <a:xfrm>
            <a:off x="2560320" y="3401568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575</a:t>
            </a:r>
            <a:endParaRPr lang="en-US" sz="730" dirty="0"/>
          </a:p>
        </p:txBody>
      </p:sp>
      <p:sp>
        <p:nvSpPr>
          <p:cNvPr id="54" name="Text 52"/>
          <p:cNvSpPr/>
          <p:nvPr/>
        </p:nvSpPr>
        <p:spPr>
          <a:xfrm>
            <a:off x="3429000" y="3401568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460</a:t>
            </a:r>
            <a:endParaRPr lang="en-US" sz="730" dirty="0"/>
          </a:p>
        </p:txBody>
      </p:sp>
      <p:sp>
        <p:nvSpPr>
          <p:cNvPr id="55" name="Text 53"/>
          <p:cNvSpPr/>
          <p:nvPr/>
        </p:nvSpPr>
        <p:spPr>
          <a:xfrm>
            <a:off x="4297680" y="3401568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420</a:t>
            </a:r>
            <a:endParaRPr lang="en-US" sz="730" dirty="0"/>
          </a:p>
        </p:txBody>
      </p:sp>
      <p:sp>
        <p:nvSpPr>
          <p:cNvPr id="56" name="Text 54"/>
          <p:cNvSpPr/>
          <p:nvPr/>
        </p:nvSpPr>
        <p:spPr>
          <a:xfrm>
            <a:off x="5166360" y="3401568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410</a:t>
            </a:r>
            <a:endParaRPr lang="en-US" sz="730" dirty="0"/>
          </a:p>
        </p:txBody>
      </p:sp>
      <p:sp>
        <p:nvSpPr>
          <p:cNvPr id="57" name="Text 55"/>
          <p:cNvSpPr/>
          <p:nvPr/>
        </p:nvSpPr>
        <p:spPr>
          <a:xfrm>
            <a:off x="6035040" y="3401568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410</a:t>
            </a:r>
            <a:endParaRPr lang="en-US" sz="730" dirty="0"/>
          </a:p>
        </p:txBody>
      </p:sp>
      <p:sp>
        <p:nvSpPr>
          <p:cNvPr id="58" name="Text 56"/>
          <p:cNvSpPr/>
          <p:nvPr/>
        </p:nvSpPr>
        <p:spPr>
          <a:xfrm>
            <a:off x="502920" y="3730752"/>
            <a:ext cx="2057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ME NH3 $/t</a:t>
            </a:r>
            <a:endParaRPr lang="en-US" sz="730" dirty="0"/>
          </a:p>
        </p:txBody>
      </p:sp>
      <p:sp>
        <p:nvSpPr>
          <p:cNvPr id="59" name="Text 57"/>
          <p:cNvSpPr/>
          <p:nvPr/>
        </p:nvSpPr>
        <p:spPr>
          <a:xfrm>
            <a:off x="2560320" y="3730752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525</a:t>
            </a:r>
            <a:endParaRPr lang="en-US" sz="730" dirty="0"/>
          </a:p>
        </p:txBody>
      </p:sp>
      <p:sp>
        <p:nvSpPr>
          <p:cNvPr id="60" name="Text 58"/>
          <p:cNvSpPr/>
          <p:nvPr/>
        </p:nvSpPr>
        <p:spPr>
          <a:xfrm>
            <a:off x="3429000" y="3730752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430</a:t>
            </a:r>
            <a:endParaRPr lang="en-US" sz="730" dirty="0"/>
          </a:p>
        </p:txBody>
      </p:sp>
      <p:sp>
        <p:nvSpPr>
          <p:cNvPr id="61" name="Text 59"/>
          <p:cNvSpPr/>
          <p:nvPr/>
        </p:nvSpPr>
        <p:spPr>
          <a:xfrm>
            <a:off x="4297680" y="3730752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400</a:t>
            </a:r>
            <a:endParaRPr lang="en-US" sz="730" dirty="0"/>
          </a:p>
        </p:txBody>
      </p:sp>
      <p:sp>
        <p:nvSpPr>
          <p:cNvPr id="62" name="Text 60"/>
          <p:cNvSpPr/>
          <p:nvPr/>
        </p:nvSpPr>
        <p:spPr>
          <a:xfrm>
            <a:off x="5166360" y="3730752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395</a:t>
            </a:r>
            <a:endParaRPr lang="en-US" sz="730" dirty="0"/>
          </a:p>
        </p:txBody>
      </p:sp>
      <p:sp>
        <p:nvSpPr>
          <p:cNvPr id="63" name="Text 61"/>
          <p:cNvSpPr/>
          <p:nvPr/>
        </p:nvSpPr>
        <p:spPr>
          <a:xfrm>
            <a:off x="6035040" y="3730752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</a:rPr>
              <a:t>395</a:t>
            </a:r>
            <a:endParaRPr lang="en-US" sz="730" dirty="0"/>
          </a:p>
        </p:txBody>
      </p:sp>
      <p:sp>
        <p:nvSpPr>
          <p:cNvPr id="64" name="Text 62"/>
          <p:cNvSpPr/>
          <p:nvPr/>
        </p:nvSpPr>
        <p:spPr>
          <a:xfrm>
            <a:off x="7498080" y="914400"/>
            <a:ext cx="3657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65D"/>
                </a:solidFill>
              </a:rPr>
              <a:t>2030 EBITDA by scenario ($bn)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498080" y="1371600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</a:rPr>
              <a:t>Downside</a:t>
            </a:r>
            <a:endParaRPr lang="en-US" sz="680" dirty="0"/>
          </a:p>
        </p:txBody>
      </p:sp>
      <p:sp>
        <p:nvSpPr>
          <p:cNvPr id="66" name="Shape 64"/>
          <p:cNvSpPr/>
          <p:nvPr/>
        </p:nvSpPr>
        <p:spPr>
          <a:xfrm>
            <a:off x="8503920" y="1353312"/>
            <a:ext cx="794512" cy="100584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652760" y="1344168"/>
            <a:ext cx="4572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0.68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7498080" y="1950720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</a:rPr>
              <a:t>Base</a:t>
            </a:r>
            <a:endParaRPr lang="en-US" sz="680" dirty="0"/>
          </a:p>
        </p:txBody>
      </p:sp>
      <p:sp>
        <p:nvSpPr>
          <p:cNvPr id="69" name="Shape 67"/>
          <p:cNvSpPr/>
          <p:nvPr/>
        </p:nvSpPr>
        <p:spPr>
          <a:xfrm>
            <a:off x="8503920" y="1932432"/>
            <a:ext cx="1367028" cy="100584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652760" y="1923288"/>
            <a:ext cx="4572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1.17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7498080" y="2529840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</a:rPr>
              <a:t>Upside</a:t>
            </a:r>
            <a:endParaRPr lang="en-US" sz="680" dirty="0"/>
          </a:p>
        </p:txBody>
      </p:sp>
      <p:sp>
        <p:nvSpPr>
          <p:cNvPr id="72" name="Shape 70"/>
          <p:cNvSpPr/>
          <p:nvPr/>
        </p:nvSpPr>
        <p:spPr>
          <a:xfrm>
            <a:off x="8503920" y="2511552"/>
            <a:ext cx="1822704" cy="100584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652760" y="2502408"/>
            <a:ext cx="4572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1.56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7498080" y="3657600"/>
            <a:ext cx="34747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Model interpretation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7498080" y="3977640"/>
            <a:ext cx="37490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2026 is not terminal. EBITDA steps down as prices normalize, while utilization and commercial improvements support the out-years.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02920" y="5989320"/>
            <a:ext cx="111099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365D"/>
                </a:solidFill>
              </a:rPr>
              <a:t>Commodity normalization initially offsets operational improvement; sustainable value comes from normalized spreads plus reliability.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11480" y="653796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ADNOC / Fertiglobe — Independent M&amp;A Case Study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9372600" y="65379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USD unless otherwise stated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11841480" y="653796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Current Standalone Valuation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20624" y="43891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Current valuation range as of 27 Sep 2026; not a target price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1828800" cy="292608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Method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423160" y="822960"/>
            <a:ext cx="960120" cy="292608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383280" y="822960"/>
            <a:ext cx="1143000" cy="292608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Base / Mid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26280" y="822960"/>
            <a:ext cx="960120" cy="292608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115568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DCF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23160" y="111556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AED2.6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83280" y="1115568"/>
            <a:ext cx="1143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AED3.03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26280" y="111556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AED3.5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1499616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Trading comps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23160" y="1499616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AED2.0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83280" y="1499616"/>
            <a:ext cx="1143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AED2.55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26280" y="1499616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AED3.1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1883664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Selected discussion range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423160" y="188366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AED2.4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83280" y="1883664"/>
            <a:ext cx="1143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AED2.85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26280" y="188366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AED3.3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2267712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Current market price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23160" y="2267712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AED2.58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83280" y="2267712"/>
            <a:ext cx="1143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AED2.58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26280" y="2267712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AED2.58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60720" y="960120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</a:rPr>
              <a:t>Current DCF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8855242" y="987552"/>
            <a:ext cx="1732547" cy="128016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60941" y="941832"/>
            <a:ext cx="8229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2.6–3.5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5760720" y="1600200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</a:rPr>
              <a:t>Trading comps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700211" y="1627632"/>
            <a:ext cx="2117558" cy="128016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90920" y="1581912"/>
            <a:ext cx="8229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2.0–3.1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5760720" y="2240280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</a:rPr>
              <a:t>Selected range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470232" y="2267712"/>
            <a:ext cx="1732547" cy="128016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75931" y="2221992"/>
            <a:ext cx="8229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2.4–3.3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 rot="10800000">
            <a:off x="8780165" y="2852928"/>
            <a:ext cx="109728" cy="109728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59541" y="2999232"/>
            <a:ext cx="914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C00000"/>
                </a:solidFill>
              </a:rPr>
              <a:t>Market AED2.58</a:t>
            </a:r>
            <a:endParaRPr lang="en-US" sz="630" dirty="0"/>
          </a:p>
        </p:txBody>
      </p:sp>
      <p:sp>
        <p:nvSpPr>
          <p:cNvPr id="35" name="Text 33"/>
          <p:cNvSpPr/>
          <p:nvPr/>
        </p:nvSpPr>
        <p:spPr>
          <a:xfrm>
            <a:off x="731520" y="3794760"/>
            <a:ext cx="52120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Key assumptions: WACC 10.5%; terminal growth 2.0%; normalized urea ~$410/t; 2030 EBITDA ~$1.17bn.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" y="5989320"/>
            <a:ext cx="111099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365D"/>
                </a:solidFill>
              </a:rPr>
              <a:t>Current base DCF is above market, but this is a standalone discussion range — not a stock recommendation.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653796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ADNOC / Fertiglobe — Independent M&amp;A Case Study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9372600" y="65379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USD unless otherwise stated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841480" y="653796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Deal-Date Standalone Valuation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20624" y="43891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EX-ANTE / DEAL-DATE BASIS — 15 Dec 2023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2057400" cy="292608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Metric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651760" y="868680"/>
            <a:ext cx="1554480" cy="292608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AED/share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161288"/>
            <a:ext cx="2057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Undisturbed price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651760" y="1161288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~2.96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1545336"/>
            <a:ext cx="2057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Downside DCF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651760" y="1545336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2.07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4360" y="1929384"/>
            <a:ext cx="2057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Base DCF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51760" y="1929384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2.80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" y="2313432"/>
            <a:ext cx="2057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Upside DCF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651760" y="2313432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3.53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4360" y="2697480"/>
            <a:ext cx="2057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Comps range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51760" y="269748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~2.4–3.2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4360" y="3081528"/>
            <a:ext cx="2057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Transaction price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51760" y="3081528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3.20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212080" y="1005840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</a:rPr>
              <a:t>Deal-date DCF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093819" y="1033272"/>
            <a:ext cx="2810577" cy="128016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77548" y="987552"/>
            <a:ext cx="8229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2.1–3.5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5212080" y="1737360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</a:rPr>
              <a:t>Deal-date comps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729086" y="1764792"/>
            <a:ext cx="1540042" cy="128016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42280" y="1719072"/>
            <a:ext cx="8229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2.4–3.2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 rot="10800000">
            <a:off x="8462531" y="2331720"/>
            <a:ext cx="109728" cy="109728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1907" y="2478024"/>
            <a:ext cx="914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C00000"/>
                </a:solidFill>
              </a:rPr>
              <a:t>Base AED2.80</a:t>
            </a:r>
            <a:endParaRPr lang="en-US" sz="630" dirty="0"/>
          </a:p>
        </p:txBody>
      </p:sp>
      <p:sp>
        <p:nvSpPr>
          <p:cNvPr id="26" name="Shape 24"/>
          <p:cNvSpPr/>
          <p:nvPr/>
        </p:nvSpPr>
        <p:spPr>
          <a:xfrm rot="10800000">
            <a:off x="8770540" y="2834640"/>
            <a:ext cx="109728" cy="109728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49916" y="2980944"/>
            <a:ext cx="914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C00000"/>
                </a:solidFill>
              </a:rPr>
              <a:t>Undisturbed AED2.96</a:t>
            </a:r>
            <a:endParaRPr lang="en-US" sz="630" dirty="0"/>
          </a:p>
        </p:txBody>
      </p:sp>
      <p:sp>
        <p:nvSpPr>
          <p:cNvPr id="28" name="Shape 26"/>
          <p:cNvSpPr/>
          <p:nvPr/>
        </p:nvSpPr>
        <p:spPr>
          <a:xfrm rot="10800000">
            <a:off x="9232552" y="3337560"/>
            <a:ext cx="109728" cy="109728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11928" y="3483864"/>
            <a:ext cx="914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C00000"/>
                </a:solidFill>
              </a:rPr>
              <a:t>Deal AED3.20</a:t>
            </a:r>
            <a:endParaRPr lang="en-US" sz="630" dirty="0"/>
          </a:p>
        </p:txBody>
      </p:sp>
      <p:sp>
        <p:nvSpPr>
          <p:cNvPr id="30" name="Text 28"/>
          <p:cNvSpPr/>
          <p:nvPr/>
        </p:nvSpPr>
        <p:spPr>
          <a:xfrm>
            <a:off x="5212080" y="4251960"/>
            <a:ext cx="4572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65D"/>
                </a:solidFill>
              </a:rPr>
              <a:t>Base premium to standalone value: 14.3%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7365D"/>
                </a:solidFill>
              </a:rPr>
              <a:t>Official premium to undisturbed price: 8.0%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5989320"/>
            <a:ext cx="111099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365D"/>
                </a:solidFill>
              </a:rPr>
              <a:t>The transaction price exceeded base standalone value, requiring identifiable strategic value to bridge the gap.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653796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ADNOC / Fertiglobe — Independent M&amp;A Case Study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9372600" y="65379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USD unless otherwise stated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11841480" y="653796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Strategic Value Gap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20624" y="43891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Base ex-ante underwriting implied a ~$455m gap on the acquired OCI stake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2743200" cy="676656"/>
          </a:xfrm>
          <a:prstGeom prst="rect">
            <a:avLst/>
          </a:prstGeom>
          <a:solidFill>
            <a:srgbClr val="1F4E78"/>
          </a:solidFill>
          <a:ln w="6350">
            <a:solidFill>
              <a:srgbClr val="1F4E7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$3.165bn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Standalone acquired stake value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617720" y="1143000"/>
            <a:ext cx="2468880" cy="676656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$3.620bn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Purchase price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1143000"/>
            <a:ext cx="2468880" cy="676656"/>
          </a:xfrm>
          <a:prstGeom prst="rect">
            <a:avLst/>
          </a:prstGeom>
          <a:solidFill>
            <a:srgbClr val="17365D"/>
          </a:solidFill>
          <a:ln w="6350">
            <a:solidFill>
              <a:srgbClr val="17365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~$455m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Strategic value gap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200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Why gap can exist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45720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• Control over strategy and capital allocation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• Operating reliability improvements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• Financing and procurement benefits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• Commercial / logistics netbacks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• Ammonia platform optionality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37960" y="3017520"/>
            <a:ext cx="43891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Could ADNOC reasonably create &gt;$455m of attributable strategic value from control?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5989320"/>
            <a:ext cx="111099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365D"/>
                </a:solidFill>
              </a:rPr>
              <a:t>The transaction should be judged against the value of the acquired stake plus strategic benefits, not as a simple price/share comparison.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653796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ADNOC / Fertiglobe — Independent M&amp;A Case Study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372600" y="65379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USD unless otherwise stated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1841480" y="653796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9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Why Existing Ownership Matters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20624" y="43891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ADNOC started with 36.2%, acquired 50% and ended at 86.2%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68680" y="914400"/>
            <a:ext cx="2377440" cy="676656"/>
          </a:xfrm>
          <a:prstGeom prst="rect">
            <a:avLst/>
          </a:prstGeom>
          <a:solidFill>
            <a:srgbClr val="1F4E78"/>
          </a:solidFill>
          <a:ln w="6350">
            <a:solidFill>
              <a:srgbClr val="1F4E7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36.2%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Pre-deal ADNOC stake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794760" y="914400"/>
            <a:ext cx="2194560" cy="676656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+50.0%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Stake acquired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37960" y="914400"/>
            <a:ext cx="2377440" cy="676656"/>
          </a:xfrm>
          <a:prstGeom prst="rect">
            <a:avLst/>
          </a:prstGeom>
          <a:solidFill>
            <a:srgbClr val="548235"/>
          </a:solidFill>
          <a:ln w="6350">
            <a:solidFill>
              <a:srgbClr val="54823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86.2%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Post-deal ownership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3154680" cy="320040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Perspective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60520" y="2331720"/>
            <a:ext cx="1920240" cy="320040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Required company-wide benefit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2651760"/>
            <a:ext cx="3154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Benefits only newly acquired 50%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60520" y="265176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$911m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3108960"/>
            <a:ext cx="3154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Benefits across 86.2% control exposure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60520" y="310896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$528m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29400" y="2468880"/>
            <a:ext cx="38404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Differentiated insight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2834640"/>
            <a:ext cx="40233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A control acquisition by an existing shareholder can create value across both the new stake and the buyer's pre-existing holding.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5989320"/>
            <a:ext cx="111099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365D"/>
                </a:solidFill>
              </a:rPr>
              <a:t>ADNOC’s pre-existing stake lowers the effective strategic-value hurdle materially.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653796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ADNOC / Fertiglobe — Independent M&amp;A Case Study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9372600" y="65379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USD unless otherwise stated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841480" y="653796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10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Synergy / Control Value Waterfall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20624" y="43891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Moderate recurring benefits nearly bridge the base strategic value gap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6400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All synergy values are analyst assumptions; optional low-carbon/control value is not quantified.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85800" y="3208858"/>
            <a:ext cx="960120" cy="1591742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956048"/>
            <a:ext cx="1143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111827"/>
                </a:solidFill>
              </a:rPr>
              <a:t>Standalone stake</a:t>
            </a:r>
            <a:endParaRPr lang="en-US" sz="630" dirty="0"/>
          </a:p>
        </p:txBody>
      </p:sp>
      <p:sp>
        <p:nvSpPr>
          <p:cNvPr id="7" name="Text 5"/>
          <p:cNvSpPr/>
          <p:nvPr/>
        </p:nvSpPr>
        <p:spPr>
          <a:xfrm>
            <a:off x="640080" y="2980258"/>
            <a:ext cx="10515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</a:rPr>
              <a:t>3.165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57400" y="4736592"/>
            <a:ext cx="960120" cy="64008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4956048"/>
            <a:ext cx="1143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111827"/>
                </a:solidFill>
              </a:rPr>
              <a:t>Proc. / overhead</a:t>
            </a:r>
            <a:endParaRPr lang="en-US" sz="630" dirty="0"/>
          </a:p>
        </p:txBody>
      </p:sp>
      <p:sp>
        <p:nvSpPr>
          <p:cNvPr id="10" name="Text 8"/>
          <p:cNvSpPr/>
          <p:nvPr/>
        </p:nvSpPr>
        <p:spPr>
          <a:xfrm>
            <a:off x="2011680" y="4507992"/>
            <a:ext cx="10515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</a:rPr>
              <a:t>0.116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429000" y="4736592"/>
            <a:ext cx="960120" cy="64008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4956048"/>
            <a:ext cx="1143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111827"/>
                </a:solidFill>
              </a:rPr>
              <a:t>Financing</a:t>
            </a:r>
            <a:endParaRPr lang="en-US" sz="630" dirty="0"/>
          </a:p>
        </p:txBody>
      </p:sp>
      <p:sp>
        <p:nvSpPr>
          <p:cNvPr id="13" name="Text 11"/>
          <p:cNvSpPr/>
          <p:nvPr/>
        </p:nvSpPr>
        <p:spPr>
          <a:xfrm>
            <a:off x="3383280" y="4507992"/>
            <a:ext cx="10515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</a:rPr>
              <a:t>0.054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800600" y="4736592"/>
            <a:ext cx="960120" cy="64008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4956048"/>
            <a:ext cx="1143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111827"/>
                </a:solidFill>
              </a:rPr>
              <a:t>Commercial</a:t>
            </a:r>
            <a:endParaRPr lang="en-US" sz="630" dirty="0"/>
          </a:p>
        </p:txBody>
      </p:sp>
      <p:sp>
        <p:nvSpPr>
          <p:cNvPr id="16" name="Text 14"/>
          <p:cNvSpPr/>
          <p:nvPr/>
        </p:nvSpPr>
        <p:spPr>
          <a:xfrm>
            <a:off x="4754880" y="4507992"/>
            <a:ext cx="10515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</a:rPr>
              <a:t>0.116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172200" y="4722647"/>
            <a:ext cx="960120" cy="77953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4956048"/>
            <a:ext cx="1143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111827"/>
                </a:solidFill>
              </a:rPr>
              <a:t>Reliability</a:t>
            </a:r>
            <a:endParaRPr lang="en-US" sz="630" dirty="0"/>
          </a:p>
        </p:txBody>
      </p:sp>
      <p:sp>
        <p:nvSpPr>
          <p:cNvPr id="19" name="Text 17"/>
          <p:cNvSpPr/>
          <p:nvPr/>
        </p:nvSpPr>
        <p:spPr>
          <a:xfrm>
            <a:off x="6126480" y="4494047"/>
            <a:ext cx="10515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</a:rPr>
              <a:t>0.155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543800" y="2987070"/>
            <a:ext cx="960120" cy="181353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4956048"/>
            <a:ext cx="1143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111827"/>
                </a:solidFill>
              </a:rPr>
              <a:t>Value to ADNOC</a:t>
            </a:r>
            <a:endParaRPr lang="en-US" sz="630" dirty="0"/>
          </a:p>
        </p:txBody>
      </p:sp>
      <p:sp>
        <p:nvSpPr>
          <p:cNvPr id="22" name="Text 20"/>
          <p:cNvSpPr/>
          <p:nvPr/>
        </p:nvSpPr>
        <p:spPr>
          <a:xfrm>
            <a:off x="7498080" y="2758470"/>
            <a:ext cx="10515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</a:rPr>
              <a:t>3.606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8915400" y="2980030"/>
            <a:ext cx="960120" cy="182057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23960" y="4956048"/>
            <a:ext cx="1143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111827"/>
                </a:solidFill>
              </a:rPr>
              <a:t>Purchase price</a:t>
            </a:r>
            <a:endParaRPr lang="en-US" sz="630" dirty="0"/>
          </a:p>
        </p:txBody>
      </p:sp>
      <p:sp>
        <p:nvSpPr>
          <p:cNvPr id="25" name="Text 23"/>
          <p:cNvSpPr/>
          <p:nvPr/>
        </p:nvSpPr>
        <p:spPr>
          <a:xfrm>
            <a:off x="8869680" y="2751430"/>
            <a:ext cx="10515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</a:rPr>
              <a:t>3.620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0287000" y="4736592"/>
            <a:ext cx="960120" cy="6400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95560" y="4956048"/>
            <a:ext cx="1143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111827"/>
                </a:solidFill>
              </a:rPr>
              <a:t>Deal NPV</a:t>
            </a:r>
            <a:endParaRPr lang="en-US" sz="630" dirty="0"/>
          </a:p>
        </p:txBody>
      </p:sp>
      <p:sp>
        <p:nvSpPr>
          <p:cNvPr id="28" name="Text 26"/>
          <p:cNvSpPr/>
          <p:nvPr/>
        </p:nvSpPr>
        <p:spPr>
          <a:xfrm>
            <a:off x="10241280" y="4507992"/>
            <a:ext cx="10515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</a:rPr>
              <a:t>(0.015)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822960" y="1188720"/>
            <a:ext cx="10332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Base result: Value to ADNOC ~$3.606bn vs. purchase consideration ~$3.620bn → approximately breakeven.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5989320"/>
            <a:ext cx="111099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365D"/>
                </a:solidFill>
              </a:rPr>
              <a:t>The base modeled synergy framework almost closes the premium without capitalizing speculative ammonia optionality.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653796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ADNOC / Fertiglobe — Independent M&amp;A Case Study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9372600" y="65379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USD unless otherwise stated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11841480" y="653796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11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Break-Even Analysis &amp; Deal Returns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20624" y="43891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Required assumptions to justify the base purchase price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2377440" cy="310896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Break-even metric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71800" y="868680"/>
            <a:ext cx="1828800" cy="310896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Output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179576"/>
            <a:ext cx="2377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Purchase price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71800" y="1179576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~AED3.19/share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2377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Normalized urea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71800" y="1591056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~$410/t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002536"/>
            <a:ext cx="2377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Sustainable utilization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71800" y="2002536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~92–93%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414016"/>
            <a:ext cx="2377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Annual after-tax synergy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71800" y="2414016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~$52m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825496"/>
            <a:ext cx="2377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Annual pre-tax synergy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71800" y="2825496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~$63m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0" y="868680"/>
            <a:ext cx="1234440" cy="310896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Scenario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720840" y="868680"/>
            <a:ext cx="1417320" cy="310896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Deal NPV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138160" y="868680"/>
            <a:ext cx="1188720" cy="310896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5Y IRR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326880" y="868680"/>
            <a:ext cx="1188720" cy="310896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5Y MOIC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86400" y="1179576"/>
            <a:ext cx="1234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Downside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20840" y="1179576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~$(710)m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138160" y="1179576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~0%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326880" y="1179576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~0.99x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0" y="1636776"/>
            <a:ext cx="1234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Base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720840" y="1636776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~$(15)m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138160" y="1636776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~7%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326880" y="1636776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~1.36x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86400" y="2093976"/>
            <a:ext cx="1234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Upside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720840" y="2093976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~+$680m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138160" y="2093976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~13%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326880" y="2093976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~1.71x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23560" y="3337560"/>
            <a:ext cx="4206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65D"/>
                </a:solidFill>
              </a:rPr>
              <a:t>5Y IRR scenario chart (%)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23560" y="3794760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</a:rPr>
              <a:t>Downside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6629400" y="3776472"/>
            <a:ext cx="0" cy="100584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0" y="3767328"/>
            <a:ext cx="4572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0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5623560" y="4191000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</a:rPr>
              <a:t>Base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6629400" y="4172712"/>
            <a:ext cx="1237488" cy="100584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26880" y="4163568"/>
            <a:ext cx="4572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7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5623560" y="4587240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</a:rPr>
              <a:t>Upside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6629400" y="4568952"/>
            <a:ext cx="2298192" cy="100584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26880" y="4559808"/>
            <a:ext cx="4572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13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5623560" y="274320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IRR/MOIC are analytical return frameworks for the acquired 50% stake, not PE-style underwriting hurdles.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02920" y="5989320"/>
            <a:ext cx="111099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365D"/>
                </a:solidFill>
              </a:rPr>
              <a:t>Break-even depends on mid-cycle nitrogen pricing, high utilization and approximately $52m of recurring after-tax synergy.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11480" y="653796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ADNOC / Fertiglobe — Independent M&amp;A Case Study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9372600" y="65379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USD unless otherwise stated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11841480" y="653796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12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Hindsight Review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20624" y="43891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HINDSIGHT — NOT USED IN EX-ANTE VALUATION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417320" cy="310896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$mm EBITDA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011680" y="868680"/>
            <a:ext cx="1554480" cy="310896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Dec-23 ex-ante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566160" y="868680"/>
            <a:ext cx="1645920" cy="310896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Actual / Current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179576"/>
            <a:ext cx="1417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2024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011680" y="1179576"/>
            <a:ext cx="1554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1,030E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566160" y="1179576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648A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4360" y="1591056"/>
            <a:ext cx="1417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2025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011680" y="1591056"/>
            <a:ext cx="1554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1,080E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66160" y="1591056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1,020A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4360" y="2002536"/>
            <a:ext cx="1417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2026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011680" y="2002536"/>
            <a:ext cx="1554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1,110E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66160" y="2002536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713A H1 / 1,332E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23560" y="914400"/>
            <a:ext cx="4480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What changed after signing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0" y="1325880"/>
            <a:ext cx="502920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• 2024 was materially weaker than expected due to price weakness and operating/gas disruption.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• 2025 recovered and was closer to mid-cycle expectations.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• H1 2026 showed strong operating leverage in a high commodity environment.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• Financing benefits and ammonia platform strategy became more visible post-deal.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05840" y="4023360"/>
            <a:ext cx="9966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Do not rewrite the 2023 underwriting with hindsight. Later performance can validate or challenge assumptions, but it cannot be treated as information available at signing.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5989320"/>
            <a:ext cx="111099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365D"/>
                </a:solidFill>
              </a:rPr>
              <a:t>The ex-ante decision must be judged using the 2023 information set; hindsight belongs in a separate review.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653796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ADNOC / Fertiglobe — Independent M&amp;A Case Study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9372600" y="65379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USD unless otherwise stated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1841480" y="653796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13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Key Risks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20624" y="43891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Commodity and feedstock risks are the largest drivers of deal economics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874520" cy="274320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Risk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377440" y="822960"/>
            <a:ext cx="3337560" cy="274320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Mechanism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5715000" y="822960"/>
            <a:ext cx="5440680" cy="274320"/>
          </a:xfrm>
          <a:prstGeom prst="rect">
            <a:avLst/>
          </a:prstGeom>
          <a:solidFill>
            <a:srgbClr val="1F4E78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Financial impact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18745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Urea price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2377440" y="1097280"/>
            <a:ext cx="3337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Benchmark / netback falls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5715000" y="1097280"/>
            <a:ext cx="54406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Very high EBITDA and valuation impact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502920" y="1490472"/>
            <a:ext cx="18745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Ammonia price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377440" y="1490472"/>
            <a:ext cx="3337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Merchant NH3 margin compresses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5715000" y="1490472"/>
            <a:ext cx="54406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High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502920" y="1883664"/>
            <a:ext cx="18745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China exports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2377440" y="1883664"/>
            <a:ext cx="3337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Global supply increases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5715000" y="1883664"/>
            <a:ext cx="54406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High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502920" y="2276856"/>
            <a:ext cx="18745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Egypt gas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2377440" y="2276856"/>
            <a:ext cx="3337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Lost production / lower availability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5715000" y="2276856"/>
            <a:ext cx="54406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02920" y="2670048"/>
            <a:ext cx="18745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Sorfert gas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2377440" y="2670048"/>
            <a:ext cx="3337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Higher cost / liabilities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5715000" y="2670048"/>
            <a:ext cx="54406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502920" y="3063240"/>
            <a:ext cx="18745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Plant reliability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2377440" y="3063240"/>
            <a:ext cx="3337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Lower utilization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715000" y="3063240"/>
            <a:ext cx="54406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502920" y="3456432"/>
            <a:ext cx="18745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Freight / geopolitics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2377440" y="3456432"/>
            <a:ext cx="3337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Delayed exports / lower netback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5715000" y="3456432"/>
            <a:ext cx="54406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Medium-high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502920" y="3849624"/>
            <a:ext cx="18745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Working capital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2377440" y="3849624"/>
            <a:ext cx="3337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Cash absorption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5715000" y="3849624"/>
            <a:ext cx="54406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Medium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502920" y="4242816"/>
            <a:ext cx="18745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Low-carbon ammonia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377440" y="4242816"/>
            <a:ext cx="3337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Delayed demand / premium</a:t>
            </a:r>
            <a:endParaRPr lang="en-US" sz="740" dirty="0"/>
          </a:p>
        </p:txBody>
      </p:sp>
      <p:sp>
        <p:nvSpPr>
          <p:cNvPr id="33" name="Text 31"/>
          <p:cNvSpPr/>
          <p:nvPr/>
        </p:nvSpPr>
        <p:spPr>
          <a:xfrm>
            <a:off x="5715000" y="4242816"/>
            <a:ext cx="54406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Strategic optionality risk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02920" y="5989320"/>
            <a:ext cx="111099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365D"/>
                </a:solidFill>
              </a:rPr>
              <a:t>The downside case is primarily a commodity + operating-risk case, not a financial engineering issue.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1480" y="653796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ADNOC / Fertiglobe — Independent M&amp;A Case Study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9372600" y="65379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USD unless otherwise stated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1841480" y="653796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14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Conclusion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20624" y="43891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Control can bridge a moderate standalone premium, but value creation remains cycle-dependent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768096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ADNOC paid AED3.20/share versus our base ex-ante standalone valuation of ~AED2.80/share.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The implied strategic-value gap for OCI's block was approximately $455m.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Because ADNOC already owned 36.2%, control-created value could accrue across 86.2%.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Modeled recurring operating, financing and commercial benefits nearly bridge the base value gap.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Economics remain highly sensitive to normalized nitrogen prices, utilization and feedstock economics.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Low-carbon ammonia optionality was strategically real but not reliably quantifiable at signing.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43000" y="3794760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Final message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4160520"/>
            <a:ext cx="9784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The deal was neither automatically cheap nor obviously overpaid; it was a conditional strategic underwriting whose success depends on mid-cycle nitrogen spreads and execution.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653796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ADNOC / Fertiglobe — Independent M&amp;A Case Study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9372600" y="65379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USD unless otherwise stated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1841480" y="653796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15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OpenAI</dc:creator>
  <cp:lastModifiedBy>OpenAI</cp:lastModifiedBy>
  <cp:revision>1</cp:revision>
  <dcterms:created xsi:type="dcterms:W3CDTF">2026-09-27T14:30:57Z</dcterms:created>
  <dcterms:modified xsi:type="dcterms:W3CDTF">2026-09-27T14:30:57Z</dcterms:modified>
</cp:coreProperties>
</file>